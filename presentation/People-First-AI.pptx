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Otwarcie: główne hasło strony. Fotografia z tej samej sesji co na stronie; stworzona z pomocą AI na podstawie zdjęć prowadzących.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Treść na podstawie strony głównej People First AI (index.html i app.js).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Treść na podstawie strony głównej People First AI (index.html i app.js).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Treść na podstawie strony głównej People First AI (index.html i app.js).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Treść na podstawie strony głównej People First AI (index.html i app.js).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Treść na podstawie strony głównej People First AI (index.html i app.js).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Treść na podstawie strony głównej People First AI (index.html i app.js).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Treść na podstawie strony głównej People First AI (index.html i app.js).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Treść na podstawie strony głównej People First AI (index.html i app.js).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Treść na podstawie strony głównej People First AI (index.html i app.js).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Treść na podstawie strony głównej People First AI (index.html i app.js).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Biogram zgodny ze stroną główną. Fotografia kampanii stworzona z pomocą AI na podstawie zdjęć prowadzących.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Biogram zgodny ze stroną główną. Fotografia kampanii stworzona z pomocą AI na podstawie zdjęć prowadzących.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Treść na podstawie strony głównej People First AI (index.html i app.js).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Treść na podstawie strony głównej People First AI (index.html i app.js).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Nie dodawano niepotwierdzonych terminów, ceny ani adresu zapisów. Strona główna zawiera obecnie formularz podglądowy.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0200"/>
            <a:ext cx="2260600" cy="3564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066800"/>
            <a:ext cx="10795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KURS O LUDZKIEJ STRONIE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62700"/>
            <a:ext cx="10972800" cy="7620"/>
          </a:xfrm>
          <a:prstGeom prst="rect">
            <a:avLst/>
          </a:prstGeom>
          <a:solidFill>
            <a:srgbClr val="DC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489700"/>
            <a:ext cx="8255000" cy="250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26172"/>
                </a:solidFill>
                <a:latin typeface="Manrope"/>
              </a:defRPr>
            </a:pPr>
            <a:r>
              <a:t>Technology changes. People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60100" y="6477000"/>
            <a:ext cx="88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26172"/>
                </a:solidFill>
                <a:latin typeface="Manrope"/>
              </a:defRPr>
            </a:pPr>
            <a:r>
              <a:t>01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600200"/>
            <a:ext cx="5334000" cy="745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070"/>
              </a:lnSpc>
              <a:spcBef>
                <a:spcPts val="0"/>
              </a:spcBef>
              <a:spcAft>
                <a:spcPts val="0"/>
              </a:spcAft>
              <a:defRPr sz="3900" b="1" i="0">
                <a:solidFill>
                  <a:srgbClr val="062344"/>
                </a:solidFill>
                <a:latin typeface="Manrope"/>
              </a:defRPr>
            </a:pPr>
            <a:r>
              <a:t>W firmie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209800"/>
            <a:ext cx="5334000" cy="8115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590"/>
              </a:lnSpc>
              <a:spcBef>
                <a:spcPts val="0"/>
              </a:spcBef>
              <a:spcAft>
                <a:spcPts val="0"/>
              </a:spcAft>
              <a:defRPr sz="4300" b="0" i="1">
                <a:solidFill>
                  <a:srgbClr val="062344"/>
                </a:solidFill>
                <a:latin typeface="Georgia"/>
              </a:defRPr>
            </a:pPr>
            <a:r>
              <a:t>AI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22600"/>
            <a:ext cx="5334000" cy="695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68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62344"/>
                </a:solidFill>
                <a:latin typeface="Manrope"/>
              </a:defRPr>
            </a:pPr>
            <a:r>
              <a:t>zrób miejsce dla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606800"/>
            <a:ext cx="5334000" cy="8115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590"/>
              </a:lnSpc>
              <a:spcBef>
                <a:spcPts val="0"/>
              </a:spcBef>
              <a:spcAft>
                <a:spcPts val="0"/>
              </a:spcAft>
              <a:defRPr sz="4300" b="1" i="0">
                <a:solidFill>
                  <a:srgbClr val="062344"/>
                </a:solidFill>
                <a:latin typeface="Manrope"/>
              </a:defRPr>
            </a:pPr>
            <a:r>
              <a:t>People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4330700"/>
            <a:ext cx="3886200" cy="38100"/>
          </a:xfrm>
          <a:prstGeom prst="rect">
            <a:avLst/>
          </a:prstGeom>
          <a:solidFill>
            <a:srgbClr val="FF6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4775200"/>
            <a:ext cx="49276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062344"/>
                </a:solidFill>
                <a:latin typeface="Manrope"/>
              </a:defRPr>
            </a:pPr>
            <a:r>
              <a:t>Naucz się przeprowadzać ludzi przez</a:t>
            </a: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062344"/>
                </a:solidFill>
                <a:latin typeface="Manrope"/>
              </a:defRPr>
            </a:pPr>
            <a:r>
              <a:t>zmianę AI.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549400"/>
            <a:ext cx="5334000" cy="4635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426200" y="5638800"/>
            <a:ext cx="1917700" cy="381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3200" y="5753100"/>
            <a:ext cx="1701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Ola / liderka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70900" y="5638800"/>
            <a:ext cx="2933700" cy="381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7900" y="5753100"/>
            <a:ext cx="2667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Grzegorz / ambasador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0200"/>
            <a:ext cx="2260600" cy="3564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066800"/>
            <a:ext cx="10795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TECHNOLOGIA SIĘ ZMIENIA. LUDZIE MAJĄ ZNACZENIE.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62700"/>
            <a:ext cx="10972800" cy="7620"/>
          </a:xfrm>
          <a:prstGeom prst="rect">
            <a:avLst/>
          </a:prstGeom>
          <a:solidFill>
            <a:srgbClr val="DC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489700"/>
            <a:ext cx="8255000" cy="250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26172"/>
                </a:solidFill>
                <a:latin typeface="Manrope"/>
              </a:defRPr>
            </a:pPr>
            <a:r>
              <a:t>Technology changes. People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60100" y="6477000"/>
            <a:ext cx="88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26172"/>
                </a:solidFill>
                <a:latin typeface="Manrope"/>
              </a:defRPr>
            </a:pPr>
            <a:r>
              <a:t>02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511300"/>
            <a:ext cx="10922000" cy="642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56"/>
              </a:lnSpc>
              <a:spcBef>
                <a:spcPts val="0"/>
              </a:spcBef>
              <a:spcAft>
                <a:spcPts val="0"/>
              </a:spcAft>
              <a:defRPr sz="3800" b="1" i="0">
                <a:solidFill>
                  <a:srgbClr val="062344"/>
                </a:solidFill>
                <a:latin typeface="Manrope"/>
              </a:defRPr>
            </a:pPr>
            <a:r>
              <a:t>Dwie perspektywy.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080768"/>
            <a:ext cx="10922000" cy="642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56"/>
              </a:lnSpc>
              <a:spcBef>
                <a:spcPts val="0"/>
              </a:spcBef>
              <a:spcAft>
                <a:spcPts val="0"/>
              </a:spcAft>
              <a:defRPr sz="3800" b="0" i="1">
                <a:solidFill>
                  <a:srgbClr val="062344"/>
                </a:solidFill>
                <a:latin typeface="Georgia"/>
              </a:defRPr>
            </a:pPr>
            <a:r>
              <a:t>Jedna ludzka zmiana.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09900"/>
            <a:ext cx="10795000" cy="398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526172"/>
                </a:solidFill>
                <a:latin typeface="Manrope"/>
              </a:defRPr>
            </a:pPr>
            <a:r>
              <a:t>Z perspektywy lidera i osoby, która doświadcza jej na co dzień.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000500"/>
            <a:ext cx="2540000" cy="1323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620"/>
              </a:lnSpc>
              <a:spcBef>
                <a:spcPts val="0"/>
              </a:spcBef>
              <a:spcAft>
                <a:spcPts val="0"/>
              </a:spcAft>
              <a:defRPr sz="7400" b="1" i="0">
                <a:solidFill>
                  <a:srgbClr val="062344"/>
                </a:solidFill>
                <a:latin typeface="Manrope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346700"/>
            <a:ext cx="2349500" cy="349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062344"/>
                </a:solidFill>
                <a:latin typeface="Manrope"/>
              </a:defRPr>
            </a:pPr>
            <a:r>
              <a:t>tygodni wspólnej nauki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3600" y="4000500"/>
            <a:ext cx="2540000" cy="1323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620"/>
              </a:lnSpc>
              <a:spcBef>
                <a:spcPts val="0"/>
              </a:spcBef>
              <a:spcAft>
                <a:spcPts val="0"/>
              </a:spcAft>
              <a:defRPr sz="7400" b="1" i="0">
                <a:solidFill>
                  <a:srgbClr val="062344"/>
                </a:solidFill>
                <a:latin typeface="Manrope"/>
              </a:defRPr>
            </a:pPr>
            <a: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3600" y="5346700"/>
            <a:ext cx="2349500" cy="349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062344"/>
                </a:solidFill>
                <a:latin typeface="Manrope"/>
              </a:defRPr>
            </a:pPr>
            <a:r>
              <a:t>warsztatów na żywo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7600" y="4000500"/>
            <a:ext cx="2540000" cy="1323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620"/>
              </a:lnSpc>
              <a:spcBef>
                <a:spcPts val="0"/>
              </a:spcBef>
              <a:spcAft>
                <a:spcPts val="0"/>
              </a:spcAft>
              <a:defRPr sz="7400" b="1" i="0">
                <a:solidFill>
                  <a:srgbClr val="062344"/>
                </a:solidFill>
                <a:latin typeface="Manrope"/>
              </a:defRPr>
            </a:pPr>
            <a: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7600" y="5346700"/>
            <a:ext cx="2349500" cy="349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062344"/>
                </a:solidFill>
                <a:latin typeface="Manrope"/>
              </a:defRPr>
            </a:pPr>
            <a:r>
              <a:t>godzin praktyki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1600" y="4000500"/>
            <a:ext cx="2540000" cy="1323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620"/>
              </a:lnSpc>
              <a:spcBef>
                <a:spcPts val="0"/>
              </a:spcBef>
              <a:spcAft>
                <a:spcPts val="0"/>
              </a:spcAft>
              <a:defRPr sz="7400" b="1" i="0">
                <a:solidFill>
                  <a:srgbClr val="062344"/>
                </a:solidFill>
                <a:latin typeface="Manrope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1600" y="5346700"/>
            <a:ext cx="2349500" cy="349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062344"/>
                </a:solidFill>
                <a:latin typeface="Manrope"/>
              </a:defRPr>
            </a:pPr>
            <a:r>
              <a:t>Twój plan transformacji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0200"/>
            <a:ext cx="2260600" cy="3564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066800"/>
            <a:ext cx="10795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ZMIANA MA DWIE STRONY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62700"/>
            <a:ext cx="10972800" cy="7620"/>
          </a:xfrm>
          <a:prstGeom prst="rect">
            <a:avLst/>
          </a:prstGeom>
          <a:solidFill>
            <a:srgbClr val="DC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489700"/>
            <a:ext cx="8255000" cy="250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26172"/>
                </a:solidFill>
                <a:latin typeface="Manrope"/>
              </a:defRPr>
            </a:pPr>
            <a:r>
              <a:t>Technology changes. People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60100" y="6477000"/>
            <a:ext cx="88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26172"/>
                </a:solidFill>
                <a:latin typeface="Manrope"/>
              </a:defRPr>
            </a:pPr>
            <a:r>
              <a:t>03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511300"/>
            <a:ext cx="10922000" cy="642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56"/>
              </a:lnSpc>
              <a:spcBef>
                <a:spcPts val="0"/>
              </a:spcBef>
              <a:spcAft>
                <a:spcPts val="0"/>
              </a:spcAft>
              <a:defRPr sz="3800" b="1" i="0">
                <a:solidFill>
                  <a:srgbClr val="062344"/>
                </a:solidFill>
                <a:latin typeface="Manrope"/>
              </a:defRPr>
            </a:pPr>
            <a:r>
              <a:t>Nowe narzędzia.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080768"/>
            <a:ext cx="10922000" cy="642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56"/>
              </a:lnSpc>
              <a:spcBef>
                <a:spcPts val="0"/>
              </a:spcBef>
              <a:spcAft>
                <a:spcPts val="0"/>
              </a:spcAft>
              <a:defRPr sz="3800" b="0" i="1">
                <a:solidFill>
                  <a:srgbClr val="062344"/>
                </a:solidFill>
                <a:latin typeface="Georgia"/>
              </a:defRPr>
            </a:pPr>
            <a:r>
              <a:t>Te same ludzkie potrzeby.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3098800"/>
            <a:ext cx="5334000" cy="2413000"/>
          </a:xfrm>
          <a:prstGeom prst="rect">
            <a:avLst/>
          </a:prstGeom>
          <a:solidFill>
            <a:srgbClr val="FB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14700"/>
            <a:ext cx="469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OLA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83000"/>
            <a:ext cx="4699000" cy="948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34"/>
              </a:lnSpc>
              <a:spcBef>
                <a:spcPts val="0"/>
              </a:spcBef>
              <a:spcAft>
                <a:spcPts val="0"/>
              </a:spcAft>
              <a:defRPr sz="2900" b="0" i="1">
                <a:solidFill>
                  <a:srgbClr val="062344"/>
                </a:solidFill>
                <a:latin typeface="Georgia"/>
              </a:defRPr>
            </a:pPr>
            <a:r>
              <a:t>Jak wesprzeć</a:t>
            </a:r>
          </a:p>
          <a:p>
            <a:pPr>
              <a:lnSpc>
                <a:spcPts val="3334"/>
              </a:lnSpc>
              <a:spcBef>
                <a:spcPts val="0"/>
              </a:spcBef>
              <a:spcAft>
                <a:spcPts val="0"/>
              </a:spcAft>
              <a:defRPr sz="2900" b="0" i="1">
                <a:solidFill>
                  <a:srgbClr val="062344"/>
                </a:solidFill>
                <a:latin typeface="Georgia"/>
              </a:defRPr>
            </a:pPr>
            <a:r>
              <a:t>mój zespół?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16500"/>
            <a:ext cx="46990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62344"/>
                </a:solidFill>
                <a:latin typeface="Manrope"/>
              </a:defRPr>
            </a:pPr>
            <a:r>
              <a:t>Perspektywa managerska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8400" y="3098800"/>
            <a:ext cx="5334000" cy="2413000"/>
          </a:xfrm>
          <a:prstGeom prst="rect">
            <a:avLst/>
          </a:prstGeom>
          <a:solidFill>
            <a:srgbClr val="E9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3200" y="3314700"/>
            <a:ext cx="469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GRZEGORZ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3683000"/>
            <a:ext cx="4699000" cy="948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34"/>
              </a:lnSpc>
              <a:spcBef>
                <a:spcPts val="0"/>
              </a:spcBef>
              <a:spcAft>
                <a:spcPts val="0"/>
              </a:spcAft>
              <a:defRPr sz="2900" b="0" i="1">
                <a:solidFill>
                  <a:srgbClr val="062344"/>
                </a:solidFill>
                <a:latin typeface="Georgia"/>
              </a:defRPr>
            </a:pPr>
            <a:r>
              <a:t>Jak odnaleźć</a:t>
            </a:r>
          </a:p>
          <a:p>
            <a:pPr>
              <a:lnSpc>
                <a:spcPts val="3334"/>
              </a:lnSpc>
              <a:spcBef>
                <a:spcPts val="0"/>
              </a:spcBef>
              <a:spcAft>
                <a:spcPts val="0"/>
              </a:spcAft>
              <a:defRPr sz="2900" b="0" i="1">
                <a:solidFill>
                  <a:srgbClr val="062344"/>
                </a:solidFill>
                <a:latin typeface="Georgia"/>
              </a:defRPr>
            </a:pPr>
            <a:r>
              <a:t>własne miejsce?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5016500"/>
            <a:ext cx="46990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62344"/>
                </a:solidFill>
                <a:latin typeface="Manrope"/>
              </a:defRPr>
            </a:pPr>
            <a:r>
              <a:t>Perspektywa pracownika i ambasadora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791200"/>
            <a:ext cx="10972800" cy="3822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62344"/>
                </a:solidFill>
                <a:latin typeface="Manrope"/>
              </a:defRPr>
            </a:pPr>
            <a:r>
              <a:t>Wspólna odpowiedź zaczyna się od ludzi.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1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0200"/>
            <a:ext cx="2260600" cy="3564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066800"/>
            <a:ext cx="10795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NASZ WSPÓLNY PUNKT WYJŚCIA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62700"/>
            <a:ext cx="10972800" cy="7620"/>
          </a:xfrm>
          <a:prstGeom prst="rect">
            <a:avLst/>
          </a:prstGeom>
          <a:solidFill>
            <a:srgbClr val="DC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489700"/>
            <a:ext cx="8255000" cy="250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26172"/>
                </a:solidFill>
                <a:latin typeface="Manrope"/>
              </a:defRPr>
            </a:pPr>
            <a:r>
              <a:t>Technology changes. People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60100" y="6477000"/>
            <a:ext cx="88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26172"/>
                </a:solidFill>
                <a:latin typeface="Manrope"/>
              </a:defRPr>
            </a:pPr>
            <a:r>
              <a:t>04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511300"/>
            <a:ext cx="10922000" cy="642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56"/>
              </a:lnSpc>
              <a:spcBef>
                <a:spcPts val="0"/>
              </a:spcBef>
              <a:spcAft>
                <a:spcPts val="0"/>
              </a:spcAft>
              <a:defRPr sz="3800" b="1" i="0">
                <a:solidFill>
                  <a:srgbClr val="062344"/>
                </a:solidFill>
                <a:latin typeface="Manrope"/>
              </a:defRPr>
            </a:pPr>
            <a:r>
              <a:t>Najpierw człowiek.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080768"/>
            <a:ext cx="10922000" cy="642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56"/>
              </a:lnSpc>
              <a:spcBef>
                <a:spcPts val="0"/>
              </a:spcBef>
              <a:spcAft>
                <a:spcPts val="0"/>
              </a:spcAft>
              <a:defRPr sz="3800" b="0" i="1">
                <a:solidFill>
                  <a:srgbClr val="062344"/>
                </a:solidFill>
                <a:latin typeface="Georgia"/>
              </a:defRPr>
            </a:pPr>
            <a:r>
              <a:t>Potem framework.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997200"/>
            <a:ext cx="2032000" cy="1224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840"/>
              </a:lnSpc>
              <a:spcBef>
                <a:spcPts val="0"/>
              </a:spcBef>
              <a:spcAft>
                <a:spcPts val="0"/>
              </a:spcAft>
              <a:defRPr sz="6800" b="1" i="0">
                <a:solidFill>
                  <a:srgbClr val="FF654F"/>
                </a:solidFill>
                <a:latin typeface="Manrope"/>
              </a:defRPr>
            </a:pPr>
            <a:r>
              <a:t>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229100"/>
            <a:ext cx="20574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62344"/>
                </a:solidFill>
                <a:latin typeface="Manrope"/>
              </a:defRPr>
            </a:pPr>
            <a:r>
              <a:t>Hear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559300"/>
            <a:ext cx="2057400" cy="332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62344"/>
                </a:solidFill>
                <a:latin typeface="Manrope"/>
              </a:defRPr>
            </a:pPr>
            <a:r>
              <a:t>Wysłuchaj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105400"/>
            <a:ext cx="1917700" cy="497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62344"/>
                </a:solidFill>
                <a:latin typeface="Manrope"/>
              </a:defRPr>
            </a:pPr>
            <a:r>
              <a:t>Rozpoznaj emocje, obawy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62344"/>
                </a:solidFill>
                <a:latin typeface="Manrope"/>
              </a:defRPr>
            </a:pPr>
            <a:r>
              <a:t>i potrzeby.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44800" y="2997200"/>
            <a:ext cx="2032000" cy="1224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840"/>
              </a:lnSpc>
              <a:spcBef>
                <a:spcPts val="0"/>
              </a:spcBef>
              <a:spcAft>
                <a:spcPts val="0"/>
              </a:spcAft>
              <a:defRPr sz="6800" b="1" i="0">
                <a:solidFill>
                  <a:srgbClr val="062344"/>
                </a:solidFill>
                <a:latin typeface="Manrope"/>
              </a:defRPr>
            </a:pPr>
            <a:r>
              <a:t>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4800" y="4229100"/>
            <a:ext cx="20574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62344"/>
                </a:solidFill>
                <a:latin typeface="Manrope"/>
              </a:defRPr>
            </a:pPr>
            <a:r>
              <a:t>Understand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4800" y="4559300"/>
            <a:ext cx="2057400" cy="332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62344"/>
                </a:solidFill>
                <a:latin typeface="Manrope"/>
              </a:defRPr>
            </a:pPr>
            <a:r>
              <a:t>Zrozum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4800" y="5105400"/>
            <a:ext cx="1917700" cy="497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62344"/>
                </a:solidFill>
                <a:latin typeface="Manrope"/>
              </a:defRPr>
            </a:pPr>
            <a:r>
              <a:t>Zdiagnozuj gotowość,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62344"/>
                </a:solidFill>
                <a:latin typeface="Manrope"/>
              </a:defRPr>
            </a:pPr>
            <a:r>
              <a:t>kulturę i kompetencje.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0" y="2997200"/>
            <a:ext cx="2032000" cy="1224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840"/>
              </a:lnSpc>
              <a:spcBef>
                <a:spcPts val="0"/>
              </a:spcBef>
              <a:spcAft>
                <a:spcPts val="0"/>
              </a:spcAft>
              <a:defRPr sz="6800" b="1" i="0">
                <a:solidFill>
                  <a:srgbClr val="062344"/>
                </a:solidFill>
                <a:latin typeface="Manrope"/>
              </a:defRPr>
            </a:pPr>
            <a: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0000" y="4229100"/>
            <a:ext cx="20574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62344"/>
                </a:solidFill>
                <a:latin typeface="Manrope"/>
              </a:defRPr>
            </a:pPr>
            <a:r>
              <a:t>Mobilize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0" y="4559300"/>
            <a:ext cx="2057400" cy="332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62344"/>
                </a:solidFill>
                <a:latin typeface="Manrope"/>
              </a:defRPr>
            </a:pPr>
            <a:r>
              <a:t>Zaangażuj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0000" y="5105400"/>
            <a:ext cx="1917700" cy="695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62344"/>
                </a:solidFill>
                <a:latin typeface="Manrope"/>
              </a:defRPr>
            </a:pPr>
            <a:r>
              <a:t>Włącz liderów i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62344"/>
                </a:solidFill>
                <a:latin typeface="Manrope"/>
              </a:defRPr>
            </a:pPr>
            <a:r>
              <a:t>ambasadorów. Daj ludziom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62344"/>
                </a:solidFill>
                <a:latin typeface="Manrope"/>
              </a:defRPr>
            </a:pPr>
            <a:r>
              <a:t>wpływ.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997200"/>
            <a:ext cx="2032000" cy="1224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840"/>
              </a:lnSpc>
              <a:spcBef>
                <a:spcPts val="0"/>
              </a:spcBef>
              <a:spcAft>
                <a:spcPts val="0"/>
              </a:spcAft>
              <a:defRPr sz="6800" b="1" i="0">
                <a:solidFill>
                  <a:srgbClr val="062344"/>
                </a:solidFill>
                <a:latin typeface="Manrope"/>
              </a:defRPr>
            </a:pPr>
            <a: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229100"/>
            <a:ext cx="20574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62344"/>
                </a:solidFill>
                <a:latin typeface="Manrope"/>
              </a:defRPr>
            </a:pPr>
            <a:r>
              <a:t>Adapt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559300"/>
            <a:ext cx="2057400" cy="332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62344"/>
                </a:solidFill>
                <a:latin typeface="Manrope"/>
              </a:defRPr>
            </a:pPr>
            <a:r>
              <a:t>Wspieraj adaptację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105400"/>
            <a:ext cx="1917700" cy="695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62344"/>
                </a:solidFill>
                <a:latin typeface="Manrope"/>
              </a:defRPr>
            </a:pPr>
            <a:r>
              <a:t>Rozwijaj kompetencje i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62344"/>
                </a:solidFill>
                <a:latin typeface="Manrope"/>
              </a:defRPr>
            </a:pPr>
            <a:r>
              <a:t>bezpieczne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62344"/>
                </a:solidFill>
                <a:latin typeface="Manrope"/>
              </a:defRPr>
            </a:pPr>
            <a:r>
              <a:t>eksperymenty.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0400" y="2997200"/>
            <a:ext cx="2032000" cy="1224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840"/>
              </a:lnSpc>
              <a:spcBef>
                <a:spcPts val="0"/>
              </a:spcBef>
              <a:spcAft>
                <a:spcPts val="0"/>
              </a:spcAft>
              <a:defRPr sz="6800" b="1" i="0">
                <a:solidFill>
                  <a:srgbClr val="062344"/>
                </a:solidFill>
                <a:latin typeface="Manrope"/>
              </a:defRPr>
            </a:pPr>
            <a:r>
              <a:t>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0400" y="4229100"/>
            <a:ext cx="20574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62344"/>
                </a:solidFill>
                <a:latin typeface="Manrope"/>
              </a:defRPr>
            </a:pPr>
            <a:r>
              <a:t>Nurture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0400" y="4559300"/>
            <a:ext cx="2057400" cy="332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62344"/>
                </a:solidFill>
                <a:latin typeface="Manrope"/>
              </a:defRPr>
            </a:pPr>
            <a:r>
              <a:t>Rozwijaj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0400" y="5105400"/>
            <a:ext cx="1917700" cy="497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62344"/>
                </a:solidFill>
                <a:latin typeface="Manrope"/>
              </a:defRPr>
            </a:pPr>
            <a:r>
              <a:t>Mierz skutki. Ucz się z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62344"/>
                </a:solidFill>
                <a:latin typeface="Manrope"/>
              </a:defRPr>
            </a:pPr>
            <a:r>
              <a:t>sukcesów i niepowodzeń.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5994400"/>
            <a:ext cx="107950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62344"/>
                </a:solidFill>
                <a:latin typeface="Manrope"/>
              </a:defRPr>
            </a:pPr>
            <a:r>
              <a:t>Wysłuchaj. Zrozum. Wróć do ludzi.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0200"/>
            <a:ext cx="2260600" cy="3564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066800"/>
            <a:ext cx="10795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DLA TYCH, KTÓRZY PRACUJĄ Z LUDŹMI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62700"/>
            <a:ext cx="10972800" cy="7620"/>
          </a:xfrm>
          <a:prstGeom prst="rect">
            <a:avLst/>
          </a:prstGeom>
          <a:solidFill>
            <a:srgbClr val="DC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489700"/>
            <a:ext cx="8255000" cy="250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26172"/>
                </a:solidFill>
                <a:latin typeface="Manrope"/>
              </a:defRPr>
            </a:pPr>
            <a:r>
              <a:t>Technology changes. People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60100" y="6477000"/>
            <a:ext cx="88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26172"/>
                </a:solidFill>
                <a:latin typeface="Manrope"/>
              </a:defRPr>
            </a:pPr>
            <a:r>
              <a:t>05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689100"/>
            <a:ext cx="5842000" cy="1211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70"/>
              </a:lnSpc>
              <a:spcBef>
                <a:spcPts val="0"/>
              </a:spcBef>
              <a:spcAft>
                <a:spcPts val="0"/>
              </a:spcAft>
              <a:defRPr sz="3800" b="1" i="0">
                <a:solidFill>
                  <a:srgbClr val="062344"/>
                </a:solidFill>
                <a:latin typeface="Manrope"/>
              </a:defRPr>
            </a:pPr>
            <a:r>
              <a:t>Nie musisz być</a:t>
            </a:r>
          </a:p>
          <a:p>
            <a:pPr>
              <a:lnSpc>
                <a:spcPts val="4370"/>
              </a:lnSpc>
              <a:spcBef>
                <a:spcPts val="0"/>
              </a:spcBef>
              <a:spcAft>
                <a:spcPts val="0"/>
              </a:spcAft>
              <a:defRPr sz="3800" b="1" i="0">
                <a:solidFill>
                  <a:srgbClr val="062344"/>
                </a:solidFill>
                <a:latin typeface="Manrope"/>
              </a:defRPr>
            </a:pPr>
            <a:r>
              <a:t>ekspertem od 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984500"/>
            <a:ext cx="5842000" cy="728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940"/>
              </a:lnSpc>
              <a:spcBef>
                <a:spcPts val="0"/>
              </a:spcBef>
              <a:spcAft>
                <a:spcPts val="0"/>
              </a:spcAft>
              <a:defRPr sz="3800" b="0" i="1">
                <a:solidFill>
                  <a:srgbClr val="062344"/>
                </a:solidFill>
                <a:latin typeface="Georgia"/>
              </a:defRPr>
            </a:pPr>
            <a:r>
              <a:t>Zacznij od ludzi.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178300"/>
            <a:ext cx="4851400" cy="10426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062344"/>
                </a:solidFill>
                <a:latin typeface="Manrope"/>
              </a:defRPr>
            </a:pPr>
            <a:r>
              <a:t>Ten kurs jest dla Ciebie, jeśli pomagasz</a:t>
            </a:r>
          </a:p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062344"/>
                </a:solidFill>
                <a:latin typeface="Manrope"/>
              </a:defRPr>
            </a:pPr>
            <a:r>
              <a:t>innym odnaleźć się w zmianie —</a:t>
            </a:r>
          </a:p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062344"/>
                </a:solidFill>
                <a:latin typeface="Manrope"/>
              </a:defRPr>
            </a:pPr>
            <a:r>
              <a:t>niezależnie od stanowiska.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300" y="1778000"/>
            <a:ext cx="4991100" cy="3822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62344"/>
                </a:solidFill>
                <a:latin typeface="Manrope"/>
              </a:defRPr>
            </a:pPr>
            <a:r>
              <a:t>HR i People &amp; Culture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64300" y="2438400"/>
            <a:ext cx="5118100" cy="7620"/>
          </a:xfrm>
          <a:prstGeom prst="rect">
            <a:avLst/>
          </a:prstGeom>
          <a:solidFill>
            <a:srgbClr val="DC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300" y="2616200"/>
            <a:ext cx="4991100" cy="3822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62344"/>
                </a:solidFill>
                <a:latin typeface="Manrope"/>
              </a:defRPr>
            </a:pPr>
            <a:r>
              <a:t>Learning &amp; Development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64300" y="3276600"/>
            <a:ext cx="5118100" cy="7620"/>
          </a:xfrm>
          <a:prstGeom prst="rect">
            <a:avLst/>
          </a:prstGeom>
          <a:solidFill>
            <a:srgbClr val="DC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300" y="3454400"/>
            <a:ext cx="4991100" cy="3822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62344"/>
                </a:solidFill>
                <a:latin typeface="Manrope"/>
              </a:defRPr>
            </a:pPr>
            <a:r>
              <a:t>Menedżerowie i liderzy zespołów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64300" y="4114800"/>
            <a:ext cx="5118100" cy="7620"/>
          </a:xfrm>
          <a:prstGeom prst="rect">
            <a:avLst/>
          </a:prstGeom>
          <a:solidFill>
            <a:srgbClr val="DC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300" y="4292600"/>
            <a:ext cx="4991100" cy="3822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62344"/>
                </a:solidFill>
                <a:latin typeface="Manrope"/>
              </a:defRPr>
            </a:pPr>
            <a:r>
              <a:t>Change managerowie i liderzy transformacji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64300" y="4953000"/>
            <a:ext cx="5118100" cy="7620"/>
          </a:xfrm>
          <a:prstGeom prst="rect">
            <a:avLst/>
          </a:prstGeom>
          <a:solidFill>
            <a:srgbClr val="DC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300" y="5130800"/>
            <a:ext cx="4991100" cy="3822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62344"/>
                </a:solidFill>
                <a:latin typeface="Manrope"/>
              </a:defRPr>
            </a:pPr>
            <a:r>
              <a:t>Ambasadorzy AI i społeczności praktyków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64300" y="5791200"/>
            <a:ext cx="5118100" cy="7620"/>
          </a:xfrm>
          <a:prstGeom prst="rect">
            <a:avLst/>
          </a:prstGeom>
          <a:solidFill>
            <a:srgbClr val="DC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0200"/>
            <a:ext cx="2260600" cy="3564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066800"/>
            <a:ext cx="10795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OD ROZUMIENIA DO DZIAŁANIA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62700"/>
            <a:ext cx="10972800" cy="7620"/>
          </a:xfrm>
          <a:prstGeom prst="rect">
            <a:avLst/>
          </a:prstGeom>
          <a:solidFill>
            <a:srgbClr val="DC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489700"/>
            <a:ext cx="8255000" cy="250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26172"/>
                </a:solidFill>
                <a:latin typeface="Manrope"/>
              </a:defRPr>
            </a:pPr>
            <a:r>
              <a:t>Technology changes. People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60100" y="6477000"/>
            <a:ext cx="88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26172"/>
                </a:solidFill>
                <a:latin typeface="Manrope"/>
              </a:defRPr>
            </a:pPr>
            <a:r>
              <a:t>06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511300"/>
            <a:ext cx="10922000" cy="642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56"/>
              </a:lnSpc>
              <a:spcBef>
                <a:spcPts val="0"/>
              </a:spcBef>
              <a:spcAft>
                <a:spcPts val="0"/>
              </a:spcAft>
              <a:defRPr sz="3800" b="1" i="0">
                <a:solidFill>
                  <a:srgbClr val="062344"/>
                </a:solidFill>
                <a:latin typeface="Manrope"/>
              </a:defRPr>
            </a:pPr>
            <a:r>
              <a:t>Pięć tygodni.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080768"/>
            <a:ext cx="10922000" cy="642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56"/>
              </a:lnSpc>
              <a:spcBef>
                <a:spcPts val="0"/>
              </a:spcBef>
              <a:spcAft>
                <a:spcPts val="0"/>
              </a:spcAft>
              <a:defRPr sz="3800" b="0" i="1">
                <a:solidFill>
                  <a:srgbClr val="062344"/>
                </a:solidFill>
                <a:latin typeface="Georgia"/>
              </a:defRPr>
            </a:pPr>
            <a:r>
              <a:t>Konkretna zmiana.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22600"/>
            <a:ext cx="762000" cy="4813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90"/>
              </a:lnSpc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FF654F"/>
                </a:solidFill>
                <a:latin typeface="Manrope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3060700"/>
            <a:ext cx="98425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62344"/>
                </a:solidFill>
                <a:latin typeface="Manrope"/>
              </a:defRPr>
            </a:pPr>
            <a:r>
              <a:t>Psychologia zmiany i zaufanie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24000" y="3492500"/>
            <a:ext cx="10058400" cy="7620"/>
          </a:xfrm>
          <a:prstGeom prst="rect">
            <a:avLst/>
          </a:prstGeom>
          <a:solidFill>
            <a:srgbClr val="DC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3619500"/>
            <a:ext cx="762000" cy="4813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90"/>
              </a:lnSpc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FF654F"/>
                </a:solidFill>
                <a:latin typeface="Manrope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3657600"/>
            <a:ext cx="98425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62344"/>
                </a:solidFill>
                <a:latin typeface="Manrope"/>
              </a:defRPr>
            </a:pPr>
            <a:r>
              <a:t>Komunikacja i przywództwo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24000" y="4089400"/>
            <a:ext cx="10058400" cy="7620"/>
          </a:xfrm>
          <a:prstGeom prst="rect">
            <a:avLst/>
          </a:prstGeom>
          <a:solidFill>
            <a:srgbClr val="DC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4216400"/>
            <a:ext cx="762000" cy="4813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90"/>
              </a:lnSpc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FF654F"/>
                </a:solidFill>
                <a:latin typeface="Manrope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" y="4254500"/>
            <a:ext cx="98425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62344"/>
                </a:solidFill>
                <a:latin typeface="Manrope"/>
              </a:defRPr>
            </a:pPr>
            <a:r>
              <a:t>Kompetencje i zaangażowanie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24000" y="4686300"/>
            <a:ext cx="10058400" cy="7620"/>
          </a:xfrm>
          <a:prstGeom prst="rect">
            <a:avLst/>
          </a:prstGeom>
          <a:solidFill>
            <a:srgbClr val="DC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4813300"/>
            <a:ext cx="762000" cy="4813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90"/>
              </a:lnSpc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FF654F"/>
                </a:solidFill>
                <a:latin typeface="Manrope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0" y="4851400"/>
            <a:ext cx="98425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62344"/>
                </a:solidFill>
                <a:latin typeface="Manrope"/>
              </a:defRPr>
            </a:pPr>
            <a:r>
              <a:t>Projektowanie i mierzenie zmiany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24000" y="5283200"/>
            <a:ext cx="10058400" cy="7620"/>
          </a:xfrm>
          <a:prstGeom prst="rect">
            <a:avLst/>
          </a:prstGeom>
          <a:solidFill>
            <a:srgbClr val="DC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5410200"/>
            <a:ext cx="762000" cy="4813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90"/>
              </a:lnSpc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FF654F"/>
                </a:solidFill>
                <a:latin typeface="Manrope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" y="5448300"/>
            <a:ext cx="98425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62344"/>
                </a:solidFill>
                <a:latin typeface="Manrope"/>
              </a:defRPr>
            </a:pPr>
            <a:r>
              <a:t>Ciągła adaptacja i wyciąganie wniosków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24000" y="5880100"/>
            <a:ext cx="10058400" cy="7620"/>
          </a:xfrm>
          <a:prstGeom prst="rect">
            <a:avLst/>
          </a:prstGeom>
          <a:solidFill>
            <a:srgbClr val="DC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0200"/>
            <a:ext cx="2260600" cy="3564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066800"/>
            <a:ext cx="10795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TYDZIEŃ 1 / H — HEAR / U — UNDERSTAND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62700"/>
            <a:ext cx="10972800" cy="7620"/>
          </a:xfrm>
          <a:prstGeom prst="rect">
            <a:avLst/>
          </a:prstGeom>
          <a:solidFill>
            <a:srgbClr val="DC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489700"/>
            <a:ext cx="8255000" cy="250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26172"/>
                </a:solidFill>
                <a:latin typeface="Manrope"/>
              </a:defRPr>
            </a:pPr>
            <a:r>
              <a:t>Technology changes. People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60100" y="6477000"/>
            <a:ext cx="88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26172"/>
                </a:solidFill>
                <a:latin typeface="Manrope"/>
              </a:defRPr>
            </a:pPr>
            <a:r>
              <a:t>07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536700"/>
            <a:ext cx="10858500" cy="5895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41"/>
              </a:lnSpc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062344"/>
                </a:solidFill>
                <a:latin typeface="Manrope"/>
              </a:defRPr>
            </a:pPr>
            <a:r>
              <a:t>Psychologia zmiany i zaufanie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832100"/>
            <a:ext cx="5334000" cy="3200400"/>
          </a:xfrm>
          <a:prstGeom prst="rect">
            <a:avLst/>
          </a:prstGeom>
          <a:solidFill>
            <a:srgbClr val="FB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000" y="3060700"/>
            <a:ext cx="4749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WARSZTAT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" y="3429000"/>
            <a:ext cx="4749800" cy="4257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62344"/>
                </a:solidFill>
                <a:latin typeface="Manrope"/>
              </a:defRPr>
            </a:pPr>
            <a:r>
              <a:t>Psychologia zmiany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4279900"/>
            <a:ext cx="4749800" cy="875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Poznasz emocje towarzyszące transformacji, obawy o</a:t>
            </a:r>
          </a:p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przyszłość zawodową oraz znaczenie tożsamości i</a:t>
            </a:r>
          </a:p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poczucia sprawczości.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0" y="5359400"/>
            <a:ext cx="4749800" cy="250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62344"/>
                </a:solidFill>
                <a:latin typeface="Manrope"/>
              </a:defRPr>
            </a:pPr>
            <a:r>
              <a:t>WYCHODZISZ 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000" y="5626100"/>
            <a:ext cx="47498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62344"/>
                </a:solidFill>
                <a:latin typeface="Manrope"/>
              </a:defRPr>
            </a:pPr>
            <a:r>
              <a:t>AI Change Readiness &amp; Emotions 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2832100"/>
            <a:ext cx="5334000" cy="3200400"/>
          </a:xfrm>
          <a:prstGeom prst="rect">
            <a:avLst/>
          </a:prstGeom>
          <a:solidFill>
            <a:srgbClr val="E9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7800" y="3060700"/>
            <a:ext cx="4749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WARSZTAT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7800" y="3429000"/>
            <a:ext cx="474980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62344"/>
                </a:solidFill>
                <a:latin typeface="Manrope"/>
              </a:defRPr>
            </a:pPr>
            <a:r>
              <a:t>Lęk, opór i bezpieczeństwo</a:t>
            </a:r>
          </a:p>
          <a:p>
            <a:pPr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62344"/>
                </a:solidFill>
                <a:latin typeface="Manrope"/>
              </a:defRPr>
            </a:pPr>
            <a:r>
              <a:t>psychologiczne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7800" y="4279900"/>
            <a:ext cx="4749800" cy="875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Zrozumiesz, co może stać za oporem. Przećwiczysz</a:t>
            </a:r>
          </a:p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budowanie zaufania i trudne rozmowy bez</a:t>
            </a:r>
          </a:p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bagatelizowania realnych problemów.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7800" y="5359400"/>
            <a:ext cx="4749800" cy="250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62344"/>
                </a:solidFill>
                <a:latin typeface="Manrope"/>
              </a:defRPr>
            </a:pPr>
            <a:r>
              <a:t>WYCHODZISZ 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7800" y="5626100"/>
            <a:ext cx="47498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62344"/>
                </a:solidFill>
                <a:latin typeface="Manrope"/>
              </a:defRPr>
            </a:pPr>
            <a:r>
              <a:t>AI Fear &amp; Trust Conversation Toolkit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0200"/>
            <a:ext cx="2260600" cy="3564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066800"/>
            <a:ext cx="10795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TYDZIEŃ 2 / M — MOBILIZE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62700"/>
            <a:ext cx="10972800" cy="7620"/>
          </a:xfrm>
          <a:prstGeom prst="rect">
            <a:avLst/>
          </a:prstGeom>
          <a:solidFill>
            <a:srgbClr val="DC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489700"/>
            <a:ext cx="8255000" cy="250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26172"/>
                </a:solidFill>
                <a:latin typeface="Manrope"/>
              </a:defRPr>
            </a:pPr>
            <a:r>
              <a:t>Technology changes. People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60100" y="6477000"/>
            <a:ext cx="88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26172"/>
                </a:solidFill>
                <a:latin typeface="Manrope"/>
              </a:defRPr>
            </a:pPr>
            <a:r>
              <a:t>08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536700"/>
            <a:ext cx="10858500" cy="5895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41"/>
              </a:lnSpc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062344"/>
                </a:solidFill>
                <a:latin typeface="Manrope"/>
              </a:defRPr>
            </a:pPr>
            <a:r>
              <a:t>Komunikacja i przywództwo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832100"/>
            <a:ext cx="5334000" cy="3200400"/>
          </a:xfrm>
          <a:prstGeom prst="rect">
            <a:avLst/>
          </a:prstGeom>
          <a:solidFill>
            <a:srgbClr val="FB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000" y="3060700"/>
            <a:ext cx="4749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WARSZTAT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" y="3429000"/>
            <a:ext cx="4749800" cy="4257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62344"/>
                </a:solidFill>
                <a:latin typeface="Manrope"/>
              </a:defRPr>
            </a:pPr>
            <a:r>
              <a:t>Komunikacja transformacji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4279900"/>
            <a:ext cx="4749800" cy="875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Przygotujesz transparentną narrację zmiany, odpowiedzi</a:t>
            </a:r>
          </a:p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na trudne pytania i sposób prowadzenia dialogu z</a:t>
            </a:r>
          </a:p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pracownikami.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0" y="5359400"/>
            <a:ext cx="4749800" cy="250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62344"/>
                </a:solidFill>
                <a:latin typeface="Manrope"/>
              </a:defRPr>
            </a:pPr>
            <a:r>
              <a:t>WYCHODZISZ 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000" y="5626100"/>
            <a:ext cx="47498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62344"/>
                </a:solidFill>
                <a:latin typeface="Manrope"/>
              </a:defRPr>
            </a:pPr>
            <a:r>
              <a:t>AI Change Communication Plan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2832100"/>
            <a:ext cx="5334000" cy="3200400"/>
          </a:xfrm>
          <a:prstGeom prst="rect">
            <a:avLst/>
          </a:prstGeom>
          <a:solidFill>
            <a:srgbClr val="E9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7800" y="3060700"/>
            <a:ext cx="4749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WARSZTAT 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7800" y="3429000"/>
            <a:ext cx="4749800" cy="4257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62344"/>
                </a:solidFill>
                <a:latin typeface="Manrope"/>
              </a:defRPr>
            </a:pPr>
            <a:r>
              <a:t>Menedżer jako lider zmiany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7800" y="4279900"/>
            <a:ext cx="4749800" cy="875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Poznasz sposoby wspierania zespołów, prowadzenia</a:t>
            </a:r>
          </a:p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rozmów 1:1 i rozwijania gotowości do</a:t>
            </a:r>
          </a:p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eksperymentowania.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7800" y="5359400"/>
            <a:ext cx="4749800" cy="250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62344"/>
                </a:solidFill>
                <a:latin typeface="Manrope"/>
              </a:defRPr>
            </a:pPr>
            <a:r>
              <a:t>WYCHODZISZ 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7800" y="5626100"/>
            <a:ext cx="47498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62344"/>
                </a:solidFill>
                <a:latin typeface="Manrope"/>
              </a:defRPr>
            </a:pPr>
            <a:r>
              <a:t>AI Change Manager Toolkit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0200"/>
            <a:ext cx="2260600" cy="3564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066800"/>
            <a:ext cx="10795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TYDZIEŃ 3 / M — MOBILIZE / A — ADAPT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62700"/>
            <a:ext cx="10972800" cy="7620"/>
          </a:xfrm>
          <a:prstGeom prst="rect">
            <a:avLst/>
          </a:prstGeom>
          <a:solidFill>
            <a:srgbClr val="DC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489700"/>
            <a:ext cx="8255000" cy="250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26172"/>
                </a:solidFill>
                <a:latin typeface="Manrope"/>
              </a:defRPr>
            </a:pPr>
            <a:r>
              <a:t>Technology changes. People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60100" y="6477000"/>
            <a:ext cx="88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26172"/>
                </a:solidFill>
                <a:latin typeface="Manrope"/>
              </a:defRPr>
            </a:pPr>
            <a:r>
              <a:t>09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536700"/>
            <a:ext cx="10858500" cy="5895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41"/>
              </a:lnSpc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062344"/>
                </a:solidFill>
                <a:latin typeface="Manrope"/>
              </a:defRPr>
            </a:pPr>
            <a:r>
              <a:t>Kompetencje i zaangażowanie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832100"/>
            <a:ext cx="5334000" cy="3200400"/>
          </a:xfrm>
          <a:prstGeom prst="rect">
            <a:avLst/>
          </a:prstGeom>
          <a:solidFill>
            <a:srgbClr val="FB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000" y="3060700"/>
            <a:ext cx="4749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WARSZTAT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" y="3429000"/>
            <a:ext cx="4749800" cy="4257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62344"/>
                </a:solidFill>
                <a:latin typeface="Manrope"/>
              </a:defRPr>
            </a:pPr>
            <a:r>
              <a:t>Upskilling i reskilling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4279900"/>
            <a:ext cx="4749800" cy="875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Nauczysz się identyfikować luki kompetencyjne,</a:t>
            </a:r>
          </a:p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analizować wpływ AI na role i projektować ścieżki</a:t>
            </a:r>
          </a:p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rozwoju.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0" y="5359400"/>
            <a:ext cx="4749800" cy="250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62344"/>
                </a:solidFill>
                <a:latin typeface="Manrope"/>
              </a:defRPr>
            </a:pPr>
            <a:r>
              <a:t>WYCHODZISZ 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000" y="5626100"/>
            <a:ext cx="47498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62344"/>
                </a:solidFill>
                <a:latin typeface="Manrope"/>
              </a:defRPr>
            </a:pPr>
            <a:r>
              <a:t>AI Skills Development Roadmap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2832100"/>
            <a:ext cx="5334000" cy="3200400"/>
          </a:xfrm>
          <a:prstGeom prst="rect">
            <a:avLst/>
          </a:prstGeom>
          <a:solidFill>
            <a:srgbClr val="E9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7800" y="3060700"/>
            <a:ext cx="4749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WARSZTAT 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7800" y="3429000"/>
            <a:ext cx="474980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62344"/>
                </a:solidFill>
                <a:latin typeface="Manrope"/>
              </a:defRPr>
            </a:pPr>
            <a:r>
              <a:t>Program ambasadorski i</a:t>
            </a:r>
          </a:p>
          <a:p>
            <a:pPr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62344"/>
                </a:solidFill>
                <a:latin typeface="Manrope"/>
              </a:defRPr>
            </a:pPr>
            <a:r>
              <a:t>społeczności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7800" y="4279900"/>
            <a:ext cx="474980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Zaplanujesz wsparcie ambasadorów AI, rozwój</a:t>
            </a:r>
          </a:p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społeczności praktyków i oddolną wymianę wiedzy.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7800" y="5359400"/>
            <a:ext cx="4749800" cy="250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62344"/>
                </a:solidFill>
                <a:latin typeface="Manrope"/>
              </a:defRPr>
            </a:pPr>
            <a:r>
              <a:t>WYCHODZISZ 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7800" y="5626100"/>
            <a:ext cx="47498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62344"/>
                </a:solidFill>
                <a:latin typeface="Manrope"/>
              </a:defRPr>
            </a:pPr>
            <a:r>
              <a:t>AI Ambassador Program Canvas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0200"/>
            <a:ext cx="2260600" cy="3564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066800"/>
            <a:ext cx="10795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TYDZIEŃ 4 / A — ADAPT / N — NURTURE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62700"/>
            <a:ext cx="10972800" cy="7620"/>
          </a:xfrm>
          <a:prstGeom prst="rect">
            <a:avLst/>
          </a:prstGeom>
          <a:solidFill>
            <a:srgbClr val="DC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489700"/>
            <a:ext cx="8255000" cy="250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26172"/>
                </a:solidFill>
                <a:latin typeface="Manrope"/>
              </a:defRPr>
            </a:pPr>
            <a:r>
              <a:t>Technology changes. People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60100" y="6477000"/>
            <a:ext cx="88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26172"/>
                </a:solidFill>
                <a:latin typeface="Manrope"/>
              </a:defRPr>
            </a:pPr>
            <a:r>
              <a:t>10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536700"/>
            <a:ext cx="10858500" cy="5895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41"/>
              </a:lnSpc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062344"/>
                </a:solidFill>
                <a:latin typeface="Manrope"/>
              </a:defRPr>
            </a:pPr>
            <a:r>
              <a:t>Projektowanie i mierzenie zmiany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832100"/>
            <a:ext cx="5334000" cy="3200400"/>
          </a:xfrm>
          <a:prstGeom prst="rect">
            <a:avLst/>
          </a:prstGeom>
          <a:solidFill>
            <a:srgbClr val="FB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000" y="3060700"/>
            <a:ext cx="4749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WARSZTAT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" y="3429000"/>
            <a:ext cx="4749800" cy="4257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62344"/>
                </a:solidFill>
                <a:latin typeface="Manrope"/>
              </a:defRPr>
            </a:pPr>
            <a:r>
              <a:t>Projektowanie interwencji zmiany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4279900"/>
            <a:ext cx="4749800" cy="875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Przełożysz diagnozę na konkretne działania, bezpieczne</a:t>
            </a:r>
          </a:p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eksperymenty i plan wdrożenia uwzględniający potrzeby</a:t>
            </a:r>
          </a:p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ludzi.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0" y="5359400"/>
            <a:ext cx="4749800" cy="250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62344"/>
                </a:solidFill>
                <a:latin typeface="Manrope"/>
              </a:defRPr>
            </a:pPr>
            <a:r>
              <a:t>WYCHODZISZ 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000" y="5626100"/>
            <a:ext cx="47498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62344"/>
                </a:solidFill>
                <a:latin typeface="Manrope"/>
              </a:defRPr>
            </a:pPr>
            <a:r>
              <a:t>Human-Centered AI Change Canvas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2832100"/>
            <a:ext cx="5334000" cy="3200400"/>
          </a:xfrm>
          <a:prstGeom prst="rect">
            <a:avLst/>
          </a:prstGeom>
          <a:solidFill>
            <a:srgbClr val="E9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7800" y="3060700"/>
            <a:ext cx="4749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WARSZTAT 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7800" y="3429000"/>
            <a:ext cx="4749800" cy="4257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62344"/>
                </a:solidFill>
                <a:latin typeface="Manrope"/>
              </a:defRPr>
            </a:pPr>
            <a:r>
              <a:t>Mierzenie adopcji i efektów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7800" y="4279900"/>
            <a:ext cx="474980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Odróżnisz samo używanie narzędzi od zmiany sposobu</a:t>
            </a:r>
          </a:p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pracy. Ocenisz efekty z perspektywy ludzi i organizacji.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7800" y="5359400"/>
            <a:ext cx="4749800" cy="250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62344"/>
                </a:solidFill>
                <a:latin typeface="Manrope"/>
              </a:defRPr>
            </a:pPr>
            <a:r>
              <a:t>WYCHODZISZ 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7800" y="5626100"/>
            <a:ext cx="47498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62344"/>
                </a:solidFill>
                <a:latin typeface="Manrope"/>
              </a:defRPr>
            </a:pPr>
            <a:r>
              <a:t>AI Change Impact Scorecard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0200"/>
            <a:ext cx="2260600" cy="3564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066800"/>
            <a:ext cx="10795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TYDZIEŃ 5 / N — NURTURE → H — HEAR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62700"/>
            <a:ext cx="10972800" cy="7620"/>
          </a:xfrm>
          <a:prstGeom prst="rect">
            <a:avLst/>
          </a:prstGeom>
          <a:solidFill>
            <a:srgbClr val="DC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489700"/>
            <a:ext cx="8255000" cy="250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26172"/>
                </a:solidFill>
                <a:latin typeface="Manrope"/>
              </a:defRPr>
            </a:pPr>
            <a:r>
              <a:t>Technology changes. People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60100" y="6477000"/>
            <a:ext cx="88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26172"/>
                </a:solidFill>
                <a:latin typeface="Manrope"/>
              </a:defRPr>
            </a:pPr>
            <a:r>
              <a:t>11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536700"/>
            <a:ext cx="10858500" cy="5895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41"/>
              </a:lnSpc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062344"/>
                </a:solidFill>
                <a:latin typeface="Manrope"/>
              </a:defRPr>
            </a:pPr>
            <a:r>
              <a:t>Ciągła adaptacja i wyciąganie wniosków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832100"/>
            <a:ext cx="5334000" cy="3200400"/>
          </a:xfrm>
          <a:prstGeom prst="rect">
            <a:avLst/>
          </a:prstGeom>
          <a:solidFill>
            <a:srgbClr val="FB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000" y="3060700"/>
            <a:ext cx="4749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WARSZTAT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" y="3429000"/>
            <a:ext cx="4749800" cy="4257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62344"/>
                </a:solidFill>
                <a:latin typeface="Manrope"/>
              </a:defRPr>
            </a:pPr>
            <a:r>
              <a:t>Co, jeśli adopcja AI się uda?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4279900"/>
            <a:ext cx="474980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Przygotujesz działania utrzymujące zaangażowanie,</a:t>
            </a:r>
          </a:p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rozwijające kompetencje i gotowość na kolejne zmiany.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0" y="5359400"/>
            <a:ext cx="4749800" cy="250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62344"/>
                </a:solidFill>
                <a:latin typeface="Manrope"/>
              </a:defRPr>
            </a:pPr>
            <a:r>
              <a:t>WYCHODZISZ 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000" y="5626100"/>
            <a:ext cx="47498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62344"/>
                </a:solidFill>
                <a:latin typeface="Manrope"/>
              </a:defRPr>
            </a:pPr>
            <a:r>
              <a:t>Continuous AI Evolution Roadmap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2832100"/>
            <a:ext cx="5334000" cy="3200400"/>
          </a:xfrm>
          <a:prstGeom prst="rect">
            <a:avLst/>
          </a:prstGeom>
          <a:solidFill>
            <a:srgbClr val="E9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7800" y="3060700"/>
            <a:ext cx="4749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WARSZTAT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7800" y="3429000"/>
            <a:ext cx="4749800" cy="4257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62344"/>
                </a:solidFill>
                <a:latin typeface="Manrope"/>
              </a:defRPr>
            </a:pPr>
            <a:r>
              <a:t>Co, jeśli adopcja AI się nie uda?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7800" y="4279900"/>
            <a:ext cx="4749800" cy="875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Nauczysz się analizować niepowodzenia bez szukania</a:t>
            </a:r>
          </a:p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winnych, odbudowywać zaufanie i decydować o dalszym</a:t>
            </a:r>
          </a:p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kierunku.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7800" y="5359400"/>
            <a:ext cx="4749800" cy="250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62344"/>
                </a:solidFill>
                <a:latin typeface="Manrope"/>
              </a:defRPr>
            </a:pPr>
            <a:r>
              <a:t>WYCHODZISZ 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7800" y="5626100"/>
            <a:ext cx="47498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62344"/>
                </a:solidFill>
                <a:latin typeface="Manrope"/>
              </a:defRPr>
            </a:pPr>
            <a:r>
              <a:t>AI Change Recovery Playbook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0200"/>
            <a:ext cx="2260600" cy="3564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066800"/>
            <a:ext cx="10795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POZNAJMY SIĘ / PERSPEKTYWA MANAGERSKA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62700"/>
            <a:ext cx="10972800" cy="7620"/>
          </a:xfrm>
          <a:prstGeom prst="rect">
            <a:avLst/>
          </a:prstGeom>
          <a:solidFill>
            <a:srgbClr val="DC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489700"/>
            <a:ext cx="8255000" cy="250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26172"/>
                </a:solidFill>
                <a:latin typeface="Manrope"/>
              </a:defRPr>
            </a:pPr>
            <a:r>
              <a:t>Technology changes. People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60100" y="6477000"/>
            <a:ext cx="88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26172"/>
                </a:solidFill>
                <a:latin typeface="Manrope"/>
              </a:defRPr>
            </a:pPr>
            <a:r>
              <a:t>12 / 16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549400"/>
            <a:ext cx="4356100" cy="4635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99100" y="1562100"/>
            <a:ext cx="6032500" cy="11922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94"/>
              </a:lnSpc>
              <a:spcBef>
                <a:spcPts val="0"/>
              </a:spcBef>
              <a:spcAft>
                <a:spcPts val="0"/>
              </a:spcAft>
              <a:defRPr sz="3800" b="1" i="0">
                <a:solidFill>
                  <a:srgbClr val="062344"/>
                </a:solidFill>
                <a:latin typeface="Manrope"/>
              </a:defRPr>
            </a:pPr>
            <a:r>
              <a:t>Aleksandra</a:t>
            </a:r>
          </a:p>
          <a:p>
            <a:pPr>
              <a:lnSpc>
                <a:spcPts val="4294"/>
              </a:lnSpc>
              <a:spcBef>
                <a:spcPts val="0"/>
              </a:spcBef>
              <a:spcAft>
                <a:spcPts val="0"/>
              </a:spcAft>
              <a:defRPr sz="3800" b="1" i="0">
                <a:solidFill>
                  <a:srgbClr val="062344"/>
                </a:solidFill>
                <a:latin typeface="Manrope"/>
              </a:defRPr>
            </a:pPr>
            <a:r>
              <a:t>Brzozowska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99100" y="2882900"/>
            <a:ext cx="6032500" cy="3822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 i="1">
                <a:solidFill>
                  <a:srgbClr val="062344"/>
                </a:solidFill>
                <a:latin typeface="Georgia"/>
              </a:defRPr>
            </a:pPr>
            <a:r>
              <a:t>Przywództwo. Zmiana. Rozwój ludzi.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99100" y="3581400"/>
            <a:ext cx="5803900" cy="728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062344"/>
                </a:solidFill>
                <a:latin typeface="Manrope"/>
              </a:defRPr>
            </a:pPr>
            <a:r>
              <a:t>Patrzy na zmianę z perspektywy liderów i całej</a:t>
            </a:r>
          </a:p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062344"/>
                </a:solidFill>
                <a:latin typeface="Manrope"/>
              </a:defRPr>
            </a:pPr>
            <a:r>
              <a:t>organizacji — z człowiekiem w centrum.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99100" y="4737100"/>
            <a:ext cx="5803900" cy="875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Head of Learning &amp; Development w Ringier Axel Springer Polska,</a:t>
            </a:r>
          </a:p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założycielka Future Craft Lab i członkini zarządu Fundacji Digital</a:t>
            </a:r>
          </a:p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Poland. Od niemal 20 lat łączy świat technologii, biznesu i ludzi.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0200"/>
            <a:ext cx="2260600" cy="3564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066800"/>
            <a:ext cx="10795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POZNAJMY SIĘ / PERSPEKTYWA PRACOWNIKA I AMBASADORA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62700"/>
            <a:ext cx="10972800" cy="7620"/>
          </a:xfrm>
          <a:prstGeom prst="rect">
            <a:avLst/>
          </a:prstGeom>
          <a:solidFill>
            <a:srgbClr val="DC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489700"/>
            <a:ext cx="8255000" cy="250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26172"/>
                </a:solidFill>
                <a:latin typeface="Manrope"/>
              </a:defRPr>
            </a:pPr>
            <a:r>
              <a:t>Technology changes. People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60100" y="6477000"/>
            <a:ext cx="88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26172"/>
                </a:solidFill>
                <a:latin typeface="Manrope"/>
              </a:defRPr>
            </a:pPr>
            <a:r>
              <a:t>13 / 16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300" y="1549400"/>
            <a:ext cx="4356100" cy="4635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562100"/>
            <a:ext cx="6159500" cy="11922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94"/>
              </a:lnSpc>
              <a:spcBef>
                <a:spcPts val="0"/>
              </a:spcBef>
              <a:spcAft>
                <a:spcPts val="0"/>
              </a:spcAft>
              <a:defRPr sz="3800" b="1" i="0">
                <a:solidFill>
                  <a:srgbClr val="062344"/>
                </a:solidFill>
                <a:latin typeface="Manrope"/>
              </a:defRPr>
            </a:pPr>
            <a:r>
              <a:t>Grzegorz</a:t>
            </a:r>
          </a:p>
          <a:p>
            <a:pPr>
              <a:lnSpc>
                <a:spcPts val="4294"/>
              </a:lnSpc>
              <a:spcBef>
                <a:spcPts val="0"/>
              </a:spcBef>
              <a:spcAft>
                <a:spcPts val="0"/>
              </a:spcAft>
              <a:defRPr sz="3800" b="1" i="0">
                <a:solidFill>
                  <a:srgbClr val="062344"/>
                </a:solidFill>
                <a:latin typeface="Manrope"/>
              </a:defRPr>
            </a:pPr>
            <a:r>
              <a:t>Łukasik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882900"/>
            <a:ext cx="6121400" cy="3822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0" i="1">
                <a:solidFill>
                  <a:srgbClr val="062344"/>
                </a:solidFill>
                <a:latin typeface="Georgia"/>
              </a:defRPr>
            </a:pPr>
            <a:r>
              <a:t>Praktyka. Społeczność. Codzienna praca.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581400"/>
            <a:ext cx="5880100" cy="10426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062344"/>
                </a:solidFill>
                <a:latin typeface="Manrope"/>
              </a:defRPr>
            </a:pPr>
            <a:r>
              <a:t>Patrzy na zmianę z perspektywy pracownika i</a:t>
            </a:r>
          </a:p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062344"/>
                </a:solidFill>
                <a:latin typeface="Manrope"/>
              </a:defRPr>
            </a:pPr>
            <a:r>
              <a:t>ambasadora, który pomaga innym oswoić</a:t>
            </a:r>
          </a:p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062344"/>
                </a:solidFill>
                <a:latin typeface="Manrope"/>
              </a:defRPr>
            </a:pPr>
            <a:r>
              <a:t>technologię.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737100"/>
            <a:ext cx="5880100" cy="113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Corporate Capabilities Specialist w Ringier Axel Springer Polska,</a:t>
            </a:r>
          </a:p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wcześniej Prompt Engineer i developer. Łączy doświadczenie w</a:t>
            </a:r>
          </a:p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projektowaniu rozwiązań AI i automatyzacji z edukacją oraz rozwojem</a:t>
            </a:r>
          </a:p>
          <a:p>
            <a:pPr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62344"/>
                </a:solidFill>
                <a:latin typeface="Manrope"/>
              </a:defRPr>
            </a:pPr>
            <a:r>
              <a:t>kompetencji.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5D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0200"/>
            <a:ext cx="2260600" cy="3564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066800"/>
            <a:ext cx="10795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WIEDZA, KTÓRA ZOSTAJE W PRAKTYCE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62700"/>
            <a:ext cx="10972800" cy="7620"/>
          </a:xfrm>
          <a:prstGeom prst="rect">
            <a:avLst/>
          </a:prstGeom>
          <a:solidFill>
            <a:srgbClr val="DC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489700"/>
            <a:ext cx="8255000" cy="250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26172"/>
                </a:solidFill>
                <a:latin typeface="Manrope"/>
              </a:defRPr>
            </a:pPr>
            <a:r>
              <a:t>Technology changes. People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60100" y="6477000"/>
            <a:ext cx="88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26172"/>
                </a:solidFill>
                <a:latin typeface="Manrope"/>
              </a:defRPr>
            </a:pPr>
            <a:r>
              <a:t>14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600200"/>
            <a:ext cx="5905500" cy="13357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59"/>
              </a:lnSpc>
              <a:spcBef>
                <a:spcPts val="0"/>
              </a:spcBef>
              <a:spcAft>
                <a:spcPts val="0"/>
              </a:spcAft>
              <a:defRPr sz="4300" b="1" i="0">
                <a:solidFill>
                  <a:srgbClr val="062344"/>
                </a:solidFill>
                <a:latin typeface="Manrope"/>
              </a:defRPr>
            </a:pPr>
            <a:r>
              <a:t>Wychodzisz</a:t>
            </a:r>
          </a:p>
          <a:p>
            <a:pPr>
              <a:lnSpc>
                <a:spcPts val="4859"/>
              </a:lnSpc>
              <a:spcBef>
                <a:spcPts val="0"/>
              </a:spcBef>
              <a:spcAft>
                <a:spcPts val="0"/>
              </a:spcAft>
              <a:defRPr sz="4300" b="1" i="0">
                <a:solidFill>
                  <a:srgbClr val="062344"/>
                </a:solidFill>
                <a:latin typeface="Manrope"/>
              </a:defRPr>
            </a:pPr>
            <a:r>
              <a:t>z własnym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984500"/>
            <a:ext cx="5969000" cy="8115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590"/>
              </a:lnSpc>
              <a:spcBef>
                <a:spcPts val="0"/>
              </a:spcBef>
              <a:spcAft>
                <a:spcPts val="0"/>
              </a:spcAft>
              <a:defRPr sz="4300" b="0" i="1">
                <a:solidFill>
                  <a:srgbClr val="062344"/>
                </a:solidFill>
                <a:latin typeface="Georgia"/>
              </a:defRPr>
            </a:pPr>
            <a:r>
              <a:t>planem zmiany.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064000"/>
            <a:ext cx="5588000" cy="3822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62344"/>
                </a:solidFill>
                <a:latin typeface="Manrope"/>
              </a:defRPr>
            </a:pPr>
            <a:r>
              <a:t>People-Centred AI Change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673600"/>
            <a:ext cx="5080000" cy="985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062344"/>
                </a:solidFill>
                <a:latin typeface="Manrope"/>
              </a:defRPr>
            </a:pPr>
            <a:r>
              <a:t>Przez cały kurs pracujesz nad jednym projektem —</a:t>
            </a:r>
          </a:p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062344"/>
                </a:solidFill>
                <a:latin typeface="Manrope"/>
              </a:defRPr>
            </a:pPr>
            <a:r>
              <a:t>własnym wyzwaniem organizacyjnym lub</a:t>
            </a:r>
          </a:p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062344"/>
                </a:solidFill>
                <a:latin typeface="Manrope"/>
              </a:defRPr>
            </a:pPr>
            <a:r>
              <a:t>przygotowanym studium przypadku.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1892300"/>
            <a:ext cx="5715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654F"/>
                </a:solidFill>
                <a:latin typeface="Manrope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4700" y="1892300"/>
            <a:ext cx="4216400" cy="4152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062344"/>
                </a:solidFill>
                <a:latin typeface="Manrope"/>
              </a:defRPr>
            </a:pPr>
            <a:r>
              <a:t>Diagnoza potrzeb, obaw i gotowości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2882900"/>
            <a:ext cx="5715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654F"/>
                </a:solidFill>
                <a:latin typeface="Manrope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4700" y="2882900"/>
            <a:ext cx="4216400" cy="728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062344"/>
                </a:solidFill>
                <a:latin typeface="Manrope"/>
              </a:defRPr>
            </a:pPr>
            <a:r>
              <a:t>Komunikacja i wsparcie</a:t>
            </a:r>
          </a:p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062344"/>
                </a:solidFill>
                <a:latin typeface="Manrope"/>
              </a:defRPr>
            </a:pPr>
            <a:r>
              <a:t>menedżerów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3873500"/>
            <a:ext cx="5715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654F"/>
                </a:solidFill>
                <a:latin typeface="Manrope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24700" y="3873500"/>
            <a:ext cx="4216400" cy="728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062344"/>
                </a:solidFill>
                <a:latin typeface="Manrope"/>
              </a:defRPr>
            </a:pPr>
            <a:r>
              <a:t>Kompetencje, ambasadorzy i</a:t>
            </a:r>
          </a:p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062344"/>
                </a:solidFill>
                <a:latin typeface="Manrope"/>
              </a:defRPr>
            </a:pPr>
            <a:r>
              <a:t>eksperymenty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4864100"/>
            <a:ext cx="5715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654F"/>
                </a:solidFill>
                <a:latin typeface="Manrope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4700" y="4864100"/>
            <a:ext cx="4216400" cy="728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062344"/>
                </a:solidFill>
                <a:latin typeface="Manrope"/>
              </a:defRPr>
            </a:pPr>
            <a:r>
              <a:t>Pomiar efektów i scenariusze</a:t>
            </a:r>
          </a:p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062344"/>
                </a:solidFill>
                <a:latin typeface="Manrope"/>
              </a:defRPr>
            </a:pPr>
            <a:r>
              <a:t>dalszych działań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0200"/>
            <a:ext cx="2260600" cy="3564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066800"/>
            <a:ext cx="10795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JAK PRACUJEMY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62700"/>
            <a:ext cx="10972800" cy="7620"/>
          </a:xfrm>
          <a:prstGeom prst="rect">
            <a:avLst/>
          </a:prstGeom>
          <a:solidFill>
            <a:srgbClr val="DC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489700"/>
            <a:ext cx="8255000" cy="250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26172"/>
                </a:solidFill>
                <a:latin typeface="Manrope"/>
              </a:defRPr>
            </a:pPr>
            <a:r>
              <a:t>Technology changes. People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60100" y="6477000"/>
            <a:ext cx="88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26172"/>
                </a:solidFill>
                <a:latin typeface="Manrope"/>
              </a:defRPr>
            </a:pPr>
            <a:r>
              <a:t>15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511300"/>
            <a:ext cx="10922000" cy="642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56"/>
              </a:lnSpc>
              <a:spcBef>
                <a:spcPts val="0"/>
              </a:spcBef>
              <a:spcAft>
                <a:spcPts val="0"/>
              </a:spcAft>
              <a:defRPr sz="3800" b="1" i="0">
                <a:solidFill>
                  <a:srgbClr val="062344"/>
                </a:solidFill>
                <a:latin typeface="Manrope"/>
              </a:defRPr>
            </a:pPr>
            <a:r>
              <a:t>Razem, na żywo.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080768"/>
            <a:ext cx="10922000" cy="642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56"/>
              </a:lnSpc>
              <a:spcBef>
                <a:spcPts val="0"/>
              </a:spcBef>
              <a:spcAft>
                <a:spcPts val="0"/>
              </a:spcAft>
              <a:defRPr sz="3800" b="0" i="1">
                <a:solidFill>
                  <a:srgbClr val="062344"/>
                </a:solidFill>
                <a:latin typeface="Georgia"/>
              </a:defRPr>
            </a:pPr>
            <a:r>
              <a:t>Przez działanie. Z pomocą AI.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3263900"/>
            <a:ext cx="3454400" cy="2082800"/>
          </a:xfrm>
          <a:prstGeom prst="rect">
            <a:avLst/>
          </a:prstGeom>
          <a:solidFill>
            <a:srgbClr val="FB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3600" y="3517900"/>
            <a:ext cx="2921000" cy="3162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62344"/>
                </a:solidFill>
                <a:latin typeface="Manrope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00" y="3962400"/>
            <a:ext cx="2946400" cy="4483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062344"/>
                </a:solidFill>
                <a:latin typeface="Manrope"/>
              </a:defRPr>
            </a:pPr>
            <a:r>
              <a:t>Razem, na żywo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600" y="4533900"/>
            <a:ext cx="28956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062344"/>
                </a:solidFill>
                <a:latin typeface="Manrope"/>
              </a:defRPr>
            </a:pPr>
            <a:r>
              <a:t>Kohorta, rozmowy i wymiana</a:t>
            </a:r>
          </a:p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062344"/>
                </a:solidFill>
                <a:latin typeface="Manrope"/>
              </a:defRPr>
            </a:pPr>
            <a:r>
              <a:t>doświadczeń.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8800" y="3263900"/>
            <a:ext cx="3454400" cy="2082800"/>
          </a:xfrm>
          <a:prstGeom prst="rect">
            <a:avLst/>
          </a:prstGeom>
          <a:solidFill>
            <a:srgbClr val="E9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2800" y="3517900"/>
            <a:ext cx="2921000" cy="3162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62344"/>
                </a:solidFill>
                <a:latin typeface="Manrope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2800" y="3962400"/>
            <a:ext cx="2946400" cy="4483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062344"/>
                </a:solidFill>
                <a:latin typeface="Manrope"/>
              </a:defRPr>
            </a:pPr>
            <a:r>
              <a:t>Przez działanie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2800" y="4533900"/>
            <a:ext cx="28956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062344"/>
                </a:solidFill>
                <a:latin typeface="Manrope"/>
              </a:defRPr>
            </a:pPr>
            <a:r>
              <a:t>Ćwiczenia, symulacje i</a:t>
            </a:r>
          </a:p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062344"/>
                </a:solidFill>
                <a:latin typeface="Manrope"/>
              </a:defRPr>
            </a:pPr>
            <a:r>
              <a:t>wzajemny feedback.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0" y="3263900"/>
            <a:ext cx="3454400" cy="2082800"/>
          </a:xfrm>
          <a:prstGeom prst="rect">
            <a:avLst/>
          </a:prstGeom>
          <a:solidFill>
            <a:srgbClr val="FB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0" y="3517900"/>
            <a:ext cx="2921000" cy="3162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62344"/>
                </a:solidFill>
                <a:latin typeface="Manrope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0" y="3962400"/>
            <a:ext cx="2946400" cy="4483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30"/>
              </a:lnSpc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062344"/>
                </a:solidFill>
                <a:latin typeface="Manrope"/>
              </a:defRPr>
            </a:pPr>
            <a:r>
              <a:t>Z pomocą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0" y="4533900"/>
            <a:ext cx="28956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062344"/>
                </a:solidFill>
                <a:latin typeface="Manrope"/>
              </a:defRPr>
            </a:pPr>
            <a:r>
              <a:t>Scenariusze rozmów i warianty</a:t>
            </a:r>
          </a:p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062344"/>
                </a:solidFill>
                <a:latin typeface="Manrope"/>
              </a:defRPr>
            </a:pPr>
            <a:r>
              <a:t>komunikacji.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5765800"/>
            <a:ext cx="108585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62344"/>
                </a:solidFill>
                <a:latin typeface="Manrope"/>
              </a:defRPr>
            </a:pPr>
            <a:r>
              <a:t>5 tygodni / 10 warsztatów na żywo / 20 godzin praktyki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0200"/>
            <a:ext cx="2260600" cy="3564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066800"/>
            <a:ext cx="10795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2344"/>
                </a:solidFill>
                <a:latin typeface="Manrope"/>
              </a:defRPr>
            </a:pPr>
            <a:r>
              <a:t>PEOPLE FIRST. TAKŻE W ŚWIECIE AI.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362700"/>
            <a:ext cx="10972800" cy="7620"/>
          </a:xfrm>
          <a:prstGeom prst="rect">
            <a:avLst/>
          </a:prstGeom>
          <a:solidFill>
            <a:srgbClr val="DC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489700"/>
            <a:ext cx="8255000" cy="250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26172"/>
                </a:solidFill>
                <a:latin typeface="Manrope"/>
              </a:defRPr>
            </a:pPr>
            <a:r>
              <a:t>Technology changes. People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60100" y="6477000"/>
            <a:ext cx="889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26172"/>
                </a:solidFill>
                <a:latin typeface="Manrope"/>
              </a:defRPr>
            </a:pPr>
            <a:r>
              <a:t>16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612900"/>
            <a:ext cx="228600" cy="4241800"/>
          </a:xfrm>
          <a:prstGeom prst="rect">
            <a:avLst/>
          </a:prstGeom>
          <a:solidFill>
            <a:srgbClr val="F5B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63400" y="1612900"/>
            <a:ext cx="228600" cy="4241800"/>
          </a:xfrm>
          <a:prstGeom prst="rect">
            <a:avLst/>
          </a:prstGeom>
          <a:solidFill>
            <a:srgbClr val="B9D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1511300"/>
            <a:ext cx="10922000" cy="741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defRPr sz="4500" b="1" i="0">
                <a:solidFill>
                  <a:srgbClr val="062344"/>
                </a:solidFill>
                <a:latin typeface="Manrope"/>
              </a:defRPr>
            </a:pPr>
            <a:r>
              <a:t>Zmiana technologiczna.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185670"/>
            <a:ext cx="10922000" cy="741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defRPr sz="4500" b="0" i="1">
                <a:solidFill>
                  <a:srgbClr val="062344"/>
                </a:solidFill>
                <a:latin typeface="Georgia"/>
              </a:defRPr>
            </a:pPr>
            <a:r>
              <a:t>Ludzkie podejście.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416300"/>
            <a:ext cx="10795000" cy="4813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90"/>
              </a:lnSpc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062344"/>
                </a:solidFill>
                <a:latin typeface="Manrope"/>
              </a:defRPr>
            </a:pPr>
            <a:r>
              <a:t>Zrób miejsce dla ludzi w transformacji AI.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051300"/>
            <a:ext cx="10795000" cy="4152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062344"/>
                </a:solidFill>
                <a:latin typeface="Manrope"/>
              </a:defRPr>
            </a:pPr>
            <a:r>
              <a:t>Pięć tygodni, dwie perspektywy i Twój plan działania.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4876800"/>
            <a:ext cx="4660900" cy="533400"/>
          </a:xfrm>
          <a:prstGeom prst="rect">
            <a:avLst/>
          </a:prstGeom>
          <a:solidFill>
            <a:srgbClr val="E9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0100" y="5092700"/>
            <a:ext cx="88900" cy="88900"/>
          </a:xfrm>
          <a:prstGeom prst="ellipse">
            <a:avLst/>
          </a:prstGeom>
          <a:solidFill>
            <a:srgbClr val="FF6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4100" y="5029200"/>
            <a:ext cx="4064000" cy="332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62344"/>
                </a:solidFill>
                <a:latin typeface="Manrope"/>
              </a:defRPr>
            </a:pPr>
            <a:r>
              <a:t>Przygotowujemy pierwszą edycję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5651500"/>
            <a:ext cx="10795000" cy="332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526172"/>
                </a:solidFill>
                <a:latin typeface="Manrope"/>
              </a:defRPr>
            </a:pPr>
            <a:r>
              <a:t>Termin, cena i harmonogram zostaną ogłoszone.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032500"/>
            <a:ext cx="10795000" cy="2336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26172"/>
                </a:solidFill>
                <a:latin typeface="Manrope"/>
              </a:defRPr>
            </a:pPr>
            <a:r>
              <a:t>Sesja wizerunkowa stworzona z pomocą AI na podstawie zdjęć prowadzących.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People First AI — ludzka strona transformacji</dc:title>
  <dc:subject/>
  <dc:creator>People First 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